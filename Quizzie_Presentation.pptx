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-45720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FFFFFF">
                    <a:alpha val="7000"/>
                  </a:srgbClr>
                </a:solidFill>
              </a:rPr>
              <a:t>Q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QUIZZIE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Online Examination Platform with Proctoring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20040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774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 Mani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23FE10CSE00793  |  Frontend &amp; AI Proctoring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Rishabh Jain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23FE10CSE00784  |  Backend &amp; Database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Mr. Sachin Gupta  |  PBL-4  |  Jan–May 2026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2011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admit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cheating in online exams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(IDP Education, 2022)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822960"/>
            <a:ext cx="64008" cy="12344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914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12344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online exam platforms have zero real-time monitoring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82296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0" y="822960"/>
            <a:ext cx="64008" cy="12344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914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Tools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2200" y="12344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Proctoring services like ProctorU cost $10–30 per exam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224028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2240280"/>
            <a:ext cx="64008" cy="12344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331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Systems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26517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exams, proctor, grade, analyse — all in different tools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24028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2240280"/>
            <a:ext cx="64008" cy="12344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2331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26517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have no evidence of suspicious behaviour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773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Quizzie  |  AI-Powered Online Examination Platform  |  PBL-4  |  Manipal University Jaipur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QUIZZIE?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unified, AI-powered examination platform for three types of users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3383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258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011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188720" y="2450592"/>
            <a:ext cx="10058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560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enter live exams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 timed interface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palette + auto-save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scores on submit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0" y="1188720"/>
            <a:ext cx="2651760" cy="33832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2588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0" y="2011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EXAMINER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023360" y="2450592"/>
            <a:ext cx="10058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37560" y="2560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exam creation wizard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&amp; schedule exams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leaderboards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Proctoring cheat log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1188720"/>
            <a:ext cx="2651760" cy="338328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32588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35040" y="2011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858000" y="2450592"/>
            <a:ext cx="10058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172200" y="2560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oversight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assignments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health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0" y="822960"/>
            <a:ext cx="512064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9418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0" y="868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0" y="11704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+ Tailwind CSS + Zustand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536192"/>
            <a:ext cx="274320" cy="16459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011680" y="1737360"/>
            <a:ext cx="5120640" cy="6858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1856232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4320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2743200" y="20848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Python 3.11 + Pydantic + JWT Auth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450592"/>
            <a:ext cx="274320" cy="16459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2011680" y="2651760"/>
            <a:ext cx="5120640" cy="68580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840" y="2770632"/>
            <a:ext cx="457200" cy="457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74320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2743200" y="29992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+ SQLAlchemy ORM + Alembic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3364992"/>
            <a:ext cx="274320" cy="164592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2011680" y="3566160"/>
            <a:ext cx="5120640" cy="68580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8840" y="3685032"/>
            <a:ext cx="457200" cy="4572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274320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LAYER</a:t>
            </a:r>
            <a:endParaRPr lang="en-US" sz="1300" dirty="0"/>
          </a:p>
        </p:txBody>
      </p:sp>
      <p:sp>
        <p:nvSpPr>
          <p:cNvPr id="22" name="Text 13"/>
          <p:cNvSpPr/>
          <p:nvPr/>
        </p:nvSpPr>
        <p:spPr>
          <a:xfrm>
            <a:off x="2743200" y="39136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(Vision) + NumPy (Audio)</a:t>
            </a:r>
            <a:endParaRPr lang="en-US" sz="1000" dirty="0"/>
          </a:p>
        </p:txBody>
      </p:sp>
      <p:sp>
        <p:nvSpPr>
          <p:cNvPr id="23" name="Shape 14"/>
          <p:cNvSpPr/>
          <p:nvPr/>
        </p:nvSpPr>
        <p:spPr>
          <a:xfrm>
            <a:off x="7406640" y="822960"/>
            <a:ext cx="1463040" cy="3566160"/>
          </a:xfrm>
          <a:prstGeom prst="rect">
            <a:avLst/>
          </a:prstGeom>
          <a:solidFill>
            <a:srgbClr val="EEF2F7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7452360" y="914400"/>
            <a:ext cx="1371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MW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000" dirty="0"/>
          </a:p>
        </p:txBody>
      </p:sp>
      <p:sp>
        <p:nvSpPr>
          <p:cNvPr id="25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274320" y="4773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Quizzie  |  AI-Powered Online Examination Platform  |  PBL-4  |  Manipal University Jaipur</a:t>
            </a:r>
            <a:endParaRPr lang="en-US" sz="800" dirty="0"/>
          </a:p>
        </p:txBody>
      </p:sp>
      <p:sp>
        <p:nvSpPr>
          <p:cNvPr id="27" name="Text 18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PROCTORING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computer vision + audio analysis running silently during every exam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474720"/>
          </a:xfrm>
          <a:prstGeom prst="rect">
            <a:avLst/>
          </a:prstGeom>
          <a:solidFill>
            <a:srgbClr val="0D2137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070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PIPELINE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16916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frame captured every 5 seconds 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 Detection → Face Mesh (468 landmarks) → Head Pose Estimation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2423160"/>
            <a:ext cx="2743200" cy="301752"/>
          </a:xfrm>
          <a:prstGeom prst="rect">
            <a:avLst/>
          </a:prstGeom>
          <a:solidFill>
            <a:srgbClr val="142030"/>
          </a:solidFill>
          <a:ln w="12700">
            <a:solidFill>
              <a:srgbClr val="2244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423160"/>
            <a:ext cx="54864" cy="3017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468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no_face_detected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017520" y="2459736"/>
            <a:ext cx="502920" cy="21945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17520" y="24597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02920" y="2816352"/>
            <a:ext cx="2743200" cy="301752"/>
          </a:xfrm>
          <a:prstGeom prst="rect">
            <a:avLst/>
          </a:prstGeom>
          <a:solidFill>
            <a:srgbClr val="142030"/>
          </a:solidFill>
          <a:ln w="12700">
            <a:solidFill>
              <a:srgbClr val="22446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2816352"/>
            <a:ext cx="54864" cy="3017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28620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multiple_faces_detected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017520" y="2852928"/>
            <a:ext cx="502920" cy="21945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17520" y="28529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02920" y="3209544"/>
            <a:ext cx="2743200" cy="301752"/>
          </a:xfrm>
          <a:prstGeom prst="rect">
            <a:avLst/>
          </a:prstGeom>
          <a:solidFill>
            <a:srgbClr val="142030"/>
          </a:solidFill>
          <a:ln w="12700">
            <a:solidFill>
              <a:srgbClr val="22446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3209544"/>
            <a:ext cx="54864" cy="30175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32552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looking_away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017520" y="3246120"/>
            <a:ext cx="502920" cy="219456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017520" y="32461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02920" y="3602736"/>
            <a:ext cx="2743200" cy="301752"/>
          </a:xfrm>
          <a:prstGeom prst="rect">
            <a:avLst/>
          </a:prstGeom>
          <a:solidFill>
            <a:srgbClr val="142030"/>
          </a:solidFill>
          <a:ln w="12700">
            <a:solidFill>
              <a:srgbClr val="22446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" y="3602736"/>
            <a:ext cx="54864" cy="3017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36484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tab_switch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017520" y="3639312"/>
            <a:ext cx="502920" cy="21945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017520" y="36393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02920" y="3995928"/>
            <a:ext cx="2743200" cy="301752"/>
          </a:xfrm>
          <a:prstGeom prst="rect">
            <a:avLst/>
          </a:prstGeom>
          <a:solidFill>
            <a:srgbClr val="142030"/>
          </a:solidFill>
          <a:ln w="12700">
            <a:solidFill>
              <a:srgbClr val="22446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02920" y="3995928"/>
            <a:ext cx="54864" cy="30175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" y="40416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window_blur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017520" y="4032504"/>
            <a:ext cx="502920" cy="219456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017520" y="403250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754880" y="1097280"/>
            <a:ext cx="4023360" cy="3474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88720"/>
            <a:ext cx="457200" cy="4572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486400" y="12070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PIPELINE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4892040" y="1691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microphone chunks → NumPy int16 array 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Energy = √(mean(samples²))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892040" y="2331720"/>
            <a:ext cx="3749040" cy="457200"/>
          </a:xfrm>
          <a:prstGeom prst="rect">
            <a:avLst/>
          </a:prstGeom>
          <a:solidFill>
            <a:srgbClr val="001A30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983480" y="2377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C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 &gt; LOUD_NOISE_THRESHOLD → loud_noise_detected (MEDIUM)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4892040" y="2880360"/>
            <a:ext cx="3749040" cy="457200"/>
          </a:xfrm>
          <a:prstGeom prst="rect">
            <a:avLst/>
          </a:prstGeom>
          <a:solidFill>
            <a:srgbClr val="001A30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983480" y="2926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 &lt; SILENCE_THRESHOLD → silence_detected (LOW)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4892040" y="3474720"/>
            <a:ext cx="86868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38"/>
          <p:cNvSpPr/>
          <p:nvPr/>
        </p:nvSpPr>
        <p:spPr>
          <a:xfrm>
            <a:off x="4892040" y="349300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400" dirty="0"/>
          </a:p>
        </p:txBody>
      </p:sp>
      <p:sp>
        <p:nvSpPr>
          <p:cNvPr id="43" name="Text 39"/>
          <p:cNvSpPr/>
          <p:nvPr/>
        </p:nvSpPr>
        <p:spPr>
          <a:xfrm>
            <a:off x="4892040" y="390448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5852160" y="3474720"/>
            <a:ext cx="86868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1"/>
          <p:cNvSpPr/>
          <p:nvPr/>
        </p:nvSpPr>
        <p:spPr>
          <a:xfrm>
            <a:off x="5852160" y="349300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</a:t>
            </a:r>
            <a:endParaRPr lang="en-US" sz="1400" dirty="0"/>
          </a:p>
        </p:txBody>
      </p:sp>
      <p:sp>
        <p:nvSpPr>
          <p:cNvPr id="46" name="Text 42"/>
          <p:cNvSpPr/>
          <p:nvPr/>
        </p:nvSpPr>
        <p:spPr>
          <a:xfrm>
            <a:off x="5852160" y="390448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6812280" y="3474720"/>
            <a:ext cx="86868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4"/>
          <p:cNvSpPr/>
          <p:nvPr/>
        </p:nvSpPr>
        <p:spPr>
          <a:xfrm>
            <a:off x="6812280" y="349300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&lt;100ms</a:t>
            </a:r>
            <a:endParaRPr lang="en-US" sz="1400" dirty="0"/>
          </a:p>
        </p:txBody>
      </p:sp>
      <p:sp>
        <p:nvSpPr>
          <p:cNvPr id="49" name="Text 45"/>
          <p:cNvSpPr/>
          <p:nvPr/>
        </p:nvSpPr>
        <p:spPr>
          <a:xfrm>
            <a:off x="6812280" y="390448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frame</a:t>
            </a:r>
            <a:endParaRPr lang="en-US" sz="800" dirty="0"/>
          </a:p>
        </p:txBody>
      </p:sp>
      <p:sp>
        <p:nvSpPr>
          <p:cNvPr id="50" name="Shape 46"/>
          <p:cNvSpPr/>
          <p:nvPr/>
        </p:nvSpPr>
        <p:spPr>
          <a:xfrm>
            <a:off x="7772400" y="3474720"/>
            <a:ext cx="86868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7"/>
          <p:cNvSpPr/>
          <p:nvPr/>
        </p:nvSpPr>
        <p:spPr>
          <a:xfrm>
            <a:off x="7772400" y="349300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400" dirty="0"/>
          </a:p>
        </p:txBody>
      </p:sp>
      <p:sp>
        <p:nvSpPr>
          <p:cNvPr id="52" name="Text 48"/>
          <p:cNvSpPr/>
          <p:nvPr/>
        </p:nvSpPr>
        <p:spPr>
          <a:xfrm>
            <a:off x="7772400" y="390448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0241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bcrypt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9768" y="1645920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with hashed passwords. Role-based routing blocks cross-role access.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172968" y="8229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10128" y="1005840"/>
            <a:ext cx="502920" cy="5029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0515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04488" y="10241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 Every 10s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282696" y="1645920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saved automatically. No work lost on crash or disconnect.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25896" y="8229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63056" y="1005840"/>
            <a:ext cx="5029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10515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57416" y="10241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Auto-Scoring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35624" y="1645920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service runs on submit — results appear immediately, no manual grading.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20040" y="27432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97180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1560" y="294436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Analytics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29768" y="3566160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distribution charts, leaderboards, per-question correctness rates, CSV export.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172968" y="27432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310128" y="2926080"/>
            <a:ext cx="50292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297180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04488" y="294436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Proctoring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282696" y="3566160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+ audio analysis + browser events — all logged with severity levels.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25896" y="27432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63056" y="2926080"/>
            <a:ext cx="50292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8776" y="2971800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57416" y="294436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Exam Wizard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135624" y="3566160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Examiners create, configure, and publish exams through a guided form interface.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274320" y="4773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Quizzie  |  AI-Powered Online Examination Platform  |  PBL-4  |  Manipal University Jaipur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011680" cy="3794760"/>
          </a:xfrm>
          <a:prstGeom prst="rect">
            <a:avLst/>
          </a:prstGeom>
          <a:solidFill>
            <a:srgbClr val="0D2137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01168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8755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9784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536192"/>
            <a:ext cx="54864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5361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2039112"/>
            <a:ext cx="54864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039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3.4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2542032"/>
            <a:ext cx="54864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542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(State Mgmt)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3044952"/>
            <a:ext cx="54864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044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(Charts)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3547872"/>
            <a:ext cx="54864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547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5.0 (Build)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2920" y="4050792"/>
            <a:ext cx="54864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4050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+ React Hook Form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487168" y="914400"/>
            <a:ext cx="2011680" cy="3794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487168" y="914400"/>
            <a:ext cx="2011680" cy="5029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987552"/>
            <a:ext cx="347472" cy="3474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990088" y="9784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2624328" y="1536192"/>
            <a:ext cx="54864" cy="2560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761488" y="15361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0.104 (Python 3.11)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2624328" y="2039112"/>
            <a:ext cx="54864" cy="2560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761488" y="2039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(Validation)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2624328" y="2542032"/>
            <a:ext cx="54864" cy="2560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761488" y="2542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 2.0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2624328" y="3044952"/>
            <a:ext cx="54864" cy="2560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761488" y="3044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(Migrations)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2624328" y="3547872"/>
            <a:ext cx="54864" cy="2560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761488" y="3547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Auth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2624328" y="4050792"/>
            <a:ext cx="54864" cy="2560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2761488" y="4050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(ASGI Server)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4608576" y="914400"/>
            <a:ext cx="2011680" cy="3794760"/>
          </a:xfrm>
          <a:prstGeom prst="rect">
            <a:avLst/>
          </a:prstGeom>
          <a:solidFill>
            <a:srgbClr val="0D2137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608576" y="914400"/>
            <a:ext cx="2011680" cy="50292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987552"/>
            <a:ext cx="347472" cy="347472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111496" y="9784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4745736" y="1536192"/>
            <a:ext cx="54864" cy="25603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4882896" y="15361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0.10.8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4745736" y="2039112"/>
            <a:ext cx="54864" cy="25603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4882896" y="2039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4.8 (Frames)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4745736" y="2542032"/>
            <a:ext cx="54864" cy="25603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4882896" y="2542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(Audio RMS)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4745736" y="3044952"/>
            <a:ext cx="54864" cy="25603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4882896" y="3044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Mesh (468 pts)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4745736" y="3547872"/>
            <a:ext cx="54864" cy="25603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4882896" y="3547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Pose Estimation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4745736" y="4050792"/>
            <a:ext cx="54864" cy="25603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4882896" y="4050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Threshold Analysis</a:t>
            </a:r>
            <a:endParaRPr lang="en-US" sz="1000" dirty="0"/>
          </a:p>
        </p:txBody>
      </p:sp>
      <p:sp>
        <p:nvSpPr>
          <p:cNvPr id="51" name="Shape 46"/>
          <p:cNvSpPr/>
          <p:nvPr/>
        </p:nvSpPr>
        <p:spPr>
          <a:xfrm>
            <a:off x="6729984" y="914400"/>
            <a:ext cx="2011680" cy="3794760"/>
          </a:xfrm>
          <a:prstGeom prst="rect">
            <a:avLst/>
          </a:prstGeom>
          <a:solidFill>
            <a:srgbClr val="0D2137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6729984" y="914400"/>
            <a:ext cx="2011680" cy="50292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pic>
        <p:nvPicPr>
          <p:cNvPr id="5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987552"/>
            <a:ext cx="347472" cy="347472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7232904" y="9784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55" name="Shape 49"/>
          <p:cNvSpPr/>
          <p:nvPr/>
        </p:nvSpPr>
        <p:spPr>
          <a:xfrm>
            <a:off x="6867144" y="1536192"/>
            <a:ext cx="54864" cy="25603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7004304" y="15361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000" dirty="0"/>
          </a:p>
        </p:txBody>
      </p:sp>
      <p:sp>
        <p:nvSpPr>
          <p:cNvPr id="57" name="Shape 51"/>
          <p:cNvSpPr/>
          <p:nvPr/>
        </p:nvSpPr>
        <p:spPr>
          <a:xfrm>
            <a:off x="6867144" y="2039112"/>
            <a:ext cx="54864" cy="25603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7004304" y="2039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Primary Keys</a:t>
            </a:r>
            <a:endParaRPr lang="en-US" sz="1000" dirty="0"/>
          </a:p>
        </p:txBody>
      </p:sp>
      <p:sp>
        <p:nvSpPr>
          <p:cNvPr id="59" name="Shape 53"/>
          <p:cNvSpPr/>
          <p:nvPr/>
        </p:nvSpPr>
        <p:spPr>
          <a:xfrm>
            <a:off x="6867144" y="2542032"/>
            <a:ext cx="54864" cy="25603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7004304" y="2542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Core Tables</a:t>
            </a:r>
            <a:endParaRPr lang="en-US" sz="1000" dirty="0"/>
          </a:p>
        </p:txBody>
      </p:sp>
      <p:sp>
        <p:nvSpPr>
          <p:cNvPr id="61" name="Shape 55"/>
          <p:cNvSpPr/>
          <p:nvPr/>
        </p:nvSpPr>
        <p:spPr>
          <a:xfrm>
            <a:off x="6867144" y="3044952"/>
            <a:ext cx="54864" cy="25603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7004304" y="3044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DB</a:t>
            </a:r>
            <a:endParaRPr lang="en-US" sz="1000" dirty="0"/>
          </a:p>
        </p:txBody>
      </p:sp>
      <p:sp>
        <p:nvSpPr>
          <p:cNvPr id="63" name="Shape 57"/>
          <p:cNvSpPr/>
          <p:nvPr/>
        </p:nvSpPr>
        <p:spPr>
          <a:xfrm>
            <a:off x="6867144" y="3547872"/>
            <a:ext cx="54864" cy="25603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7004304" y="3547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Pooling (10)</a:t>
            </a:r>
            <a:endParaRPr lang="en-US" sz="1000" dirty="0"/>
          </a:p>
        </p:txBody>
      </p:sp>
      <p:sp>
        <p:nvSpPr>
          <p:cNvPr id="65" name="Shape 59"/>
          <p:cNvSpPr/>
          <p:nvPr/>
        </p:nvSpPr>
        <p:spPr>
          <a:xfrm>
            <a:off x="6867144" y="4050792"/>
            <a:ext cx="54864" cy="25603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66" name="Text 60"/>
          <p:cNvSpPr/>
          <p:nvPr/>
        </p:nvSpPr>
        <p:spPr>
          <a:xfrm>
            <a:off x="7004304" y="4050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Cascaded Relationships</a:t>
            </a:r>
            <a:endParaRPr lang="en-US" sz="1000" dirty="0"/>
          </a:p>
        </p:txBody>
      </p:sp>
      <p:sp>
        <p:nvSpPr>
          <p:cNvPr id="67" name="Text 6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6517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2252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(UUID PK)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(UNIQUE)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full_name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2494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(ENUM)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82296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822960"/>
            <a:ext cx="2651760" cy="3474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868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2252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(UUID PK)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14813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91840" y="17373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duration_minutes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19933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(ENUM)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0" y="22494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created_by (FK→users)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82296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527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822960"/>
            <a:ext cx="2651760" cy="34747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868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12252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(UUID PK)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14813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exam_id (FK)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0" y="17373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17920" y="19933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0" y="22494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 (JSON)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7889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36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788920"/>
            <a:ext cx="2651760" cy="34747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exam_attempts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319125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(UUID PK)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34472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exam_id (FK)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37033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student_id (FK)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39593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42153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(ENUM)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0" y="27889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0" y="2788920"/>
            <a:ext cx="26517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91840" y="319125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(UUID PK)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91840" y="34472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attempt_id (FK)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91840" y="37033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question_id (FK)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91840" y="39593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is_correct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26480" y="27889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26480" y="2788920"/>
            <a:ext cx="265176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cheat_logs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217920" y="319125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(UUID PK)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17920" y="34472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attempt_id (FK)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17920" y="37033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flag_type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17920" y="39593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17920" y="42153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meta_data (JSON)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773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Quizzie  |  AI-Powered Online Examination Platform  |  PBL-4  |  Manipal University Jaipur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75488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64008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149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30759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service: edge cases — zero score, full marks, partial answers. Mocked DB responses.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75488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20240"/>
            <a:ext cx="64008" cy="7772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751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+ Postman. Full exam lifecycle. Auth boundary tests: students blocked from examiner endpoints.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475488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80360"/>
            <a:ext cx="64008" cy="77724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352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Testing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22783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on Chrome &amp; Firefox. Identified and fixed score.toFixed() null-reference bug.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475488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840480"/>
            <a:ext cx="64008" cy="7772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953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Proctoring Testing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18795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all 6 cheat scenarios. All triggered correct flags at expected severity levels.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960120"/>
            <a:ext cx="1691640" cy="1828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0" y="12344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86400" y="205740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Time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69480" y="960120"/>
            <a:ext cx="1691640" cy="18288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69480" y="12344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&lt;100ms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269480" y="205740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Latency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2971800"/>
            <a:ext cx="1691640" cy="1828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0" y="32461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486400" y="40690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Accuracy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69480" y="2971800"/>
            <a:ext cx="1691640" cy="182880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69480" y="32461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269480" y="40690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 Tested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&amp;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11480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2103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87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OUTCOME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Fully functional prototype deployed &amp; tested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7007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GitHub: github.com/OnlyArkMani/Quizzie (MIT License)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Research paper submission planned — student symposium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322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Patent filing under consideration for AI proctoring pipeline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633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Cloud deployment planned on Render / Vercel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114800" cy="1024128"/>
          </a:xfrm>
          <a:prstGeom prst="rect">
            <a:avLst/>
          </a:prstGeom>
          <a:solidFill>
            <a:srgbClr val="0D2137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914400"/>
            <a:ext cx="4114800" cy="3017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9509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—  Short Term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243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WebSocket live proctoring dashboard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463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Question randomization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6824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Email notifications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029968"/>
            <a:ext cx="4114800" cy="1024128"/>
          </a:xfrm>
          <a:prstGeom prst="rect">
            <a:avLst/>
          </a:prstGeom>
          <a:solidFill>
            <a:srgbClr val="0D2137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029968"/>
            <a:ext cx="4114800" cy="30175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0665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—  Mid Term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359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Gaze tracking (eye landmarks)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578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ML anomaly detection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7980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LMS Integration (Moodle)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145536"/>
            <a:ext cx="4114800" cy="1024128"/>
          </a:xfrm>
          <a:prstGeom prst="rect">
            <a:avLst/>
          </a:prstGeom>
          <a:solidFill>
            <a:srgbClr val="0D2137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145536"/>
            <a:ext cx="4114800" cy="30175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1821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—  Long Term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4747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Blockchain certificates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36941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 question generation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39136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Multi-tenant SaaS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31596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Welcome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Quizzie – AI-Powered Online Examination Platform</dc:title>
  <dc:subject>PptxGenJS Presentation</dc:subject>
  <dc:creator>PptxGenJS</dc:creator>
  <cp:lastModifiedBy>PptxGenJS</cp:lastModifiedBy>
  <cp:revision>1</cp:revision>
  <dcterms:created xsi:type="dcterms:W3CDTF">2026-04-14T06:08:40Z</dcterms:created>
  <dcterms:modified xsi:type="dcterms:W3CDTF">2026-04-14T06:08:40Z</dcterms:modified>
</cp:coreProperties>
</file>